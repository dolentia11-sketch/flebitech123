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Arranque directo: vamos por Seguros como Plan A. No es corazonada, es lo que dice el Montecarlo del equipo. En 5 minutos les muestro por qué, qué construimos y qué decidimos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Seguros gana 84,3% de las veces en la simulación del equipo. La diferencia la mueve la viabilidad de implementación: en 3 días se puede demostrar corriendo. Crédito gana en impacto, por eso queda de plan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Penetración 3,29% vs 9,3% de la OCDE: mercado enorme sin atender. 1,6 millones de afiliados. El cuello de botella es que hoy vender depende de un asesor humano y no es 24/7.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 todos van a entregar un chatbot reactivo o una automatización de WhatsApp. Nosotros cerramos la venta de punta a punta con el cumplimiento en pantalla. Ese es el salto que nos separa del montón.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único flujo que tiene que funcionar el domingo. Cinco pasos, un hilo de chat, y el afiliado sale asegurado. Cubre a quien no tiene WhatsApp, que casi nadie va a atender.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diferenciador. Jarvis es el norte: proactivo, con memoria. No lo construimos completo, pero lo mostramos. Y no es humo: el playbook global de NTT DATA describe exactamente esta arquitectura como el estado del 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criterio tiene una jugada concreta. La más importante: en viabilidad de implementación convertimos la objeción regulatoria del jurado en nuestro punto fuerte, poniendo el cumplimiento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oro: la IA nunca pone un número, lo pone un motor determinista en Python. Así no hay alucinaciones y todo queda trazado. Stack mínimo para no romper cosas a las 2am del sábado.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para la ideación de hoy, no un plano cerrado. Arriba el afiliado por voz o chat; en el medio el marco lógico de 5 pasos; abajo la infraestructura (orquestador, motores, LLM, base de datos) y la visión MaaS. Empezamos por el motor de propensión, que sirve a Seguros y a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Repartimos por lo que cada quien hace mejor, con el marco Hustle/Hipster/Hacker. La sexta persona cubre nuestro punto ciego: el cumplimiento del sector. Hoy hay que llenar las 4 fichas que faltan.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entregable mostrable cada día. Congelamos código el domingo al mediodía. Y tenemos una red de seguridad escrita: la regla de pivote del sábado protege la nota de viabilidad.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preguntas que hunden a los demás. Las respondemos por diseño. La objeción regulatoria y la de seguridad, en vez de esquivarlas, las ponemos como parte del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las cuatro decisiones concretas para hoy, no con una moraleja. Y con el criterio de victoria: el domingo, un desconocido queda asegurado solo, en 5 mensajes.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fuentes por si el equipo quiere verificar. Todo con cita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2030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  ·   HACKATHON COLSUBSIDIO x 30X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apuesta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ganamos el reto de Seguros, y por qué es la jugada correcta.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5212080" cy="822960"/>
          </a:xfrm>
          <a:prstGeom prst="roundRect">
            <a:avLst>
              <a:gd name="adj" fmla="val 11111"/>
            </a:avLst>
          </a:prstGeom>
          <a:solidFill>
            <a:srgbClr val="1E2C4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97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84,3%</a:t>
            </a:r>
            <a:pPr indent="0" marL="0">
              <a:buNone/>
            </a:pPr>
            <a:r>
              <a:rPr lang="en-US" sz="13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ganarle a Crédito ante el jurado (Montecarlo)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jul 2026  ·  Documento de decisión para el equipo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por Seguros. El número lo dice.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0" cy="2834640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84,3%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que Seguros le gane a Crédito ante el jurado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Montecarlo · 200.000 escenarios · 77,0 vs 72,7 sobre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6492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no gana por más impacto: ahí gana Crédito.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porque en 3 días se implementa y se demuestra de verdad. El jurado premia lo que ve corriendo, no lo que se promete.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reparte la nota el jurado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0" y="37947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0" y="4370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4370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0" y="37947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A5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0" y="4370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Viab. técnica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37947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A5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0" y="4370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Viab. implem.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0" y="3794760"/>
            <a:ext cx="1298448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0" y="39136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0" y="43708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0" y="48920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40% de la nota (viabilidad técnica + implementación) es donde Seguros nos saca ventaja.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subvendido, y una puerta con fricción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Penetración de seguros (% del PIB)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97280" y="3868109"/>
            <a:ext cx="1371600" cy="841051"/>
          </a:xfrm>
          <a:prstGeom prst="roundRect">
            <a:avLst>
              <a:gd name="adj" fmla="val 5436"/>
            </a:avLst>
          </a:prstGeom>
          <a:solidFill>
            <a:srgbClr val="2D6CD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10909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3,29%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331720"/>
            <a:ext cx="1371600" cy="2377440"/>
          </a:xfrm>
          <a:prstGeom prst="roundRect">
            <a:avLst>
              <a:gd name="adj" fmla="val 3333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OCDE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es la señal de mercado desatendido más fuerte de los dos retos.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8288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 M </a:t>
            </a:r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(2,8 M con beneficiarios). Una plataforma de distribución de primer nivel.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329184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actual depende 100% de asesores y no es 24/7.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no entiende los seguros y les tiene desconfianza. El producto ya existe (Colsubsidio con MetLife); el reto es quitar la fricción de venderlo sin un humano.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4983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Fasecolda 2025; Colsubsidio 2025; MetLife Colombia.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hará el pelotón vs lo que hacemos nosotros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PELOTÓN (800 participantes)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que responde preguntas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WhatsApp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con lenguaje natural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Reactivo, genérico, fácil de improvisar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detiene en “te informo”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autónomo de punta a punta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visible: idoneidad + consentimiento + traza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por momento de vida, no por demografía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 con memoria (Jarvis como norte)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hasta “quedaste asegurado”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 en 5 mensajes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377440"/>
            <a:ext cx="640080" cy="64008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real en máx. 5 preguntas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61488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3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44368" y="214884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4176" y="2377440"/>
            <a:ext cx="640080" cy="640080"/>
          </a:xfrm>
          <a:prstGeom prst="ellipse">
            <a:avLst/>
          </a:prstGeom>
          <a:solidFill>
            <a:srgbClr val="1BA5B8"/>
          </a:solidFill>
          <a:ln/>
        </p:spPr>
      </p:sp>
      <p:sp>
        <p:nvSpPr>
          <p:cNvPr id="12" name="Text 10"/>
          <p:cNvSpPr/>
          <p:nvPr/>
        </p:nvSpPr>
        <p:spPr>
          <a:xfrm>
            <a:off x="369417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315468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Recomienda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81528" y="36118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real del portafolio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65776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3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248656" y="214884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98464" y="23774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998464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48656" y="315468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85816" y="36118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motor determinista (no inventa)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70064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3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552944" y="214884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02752" y="237744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52944" y="315468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Idoneidad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90104" y="36118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consentimiento explícito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74352" y="31089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3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857232" y="2148840"/>
            <a:ext cx="2139696" cy="274320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07040" y="2377440"/>
            <a:ext cx="640080" cy="640080"/>
          </a:xfrm>
          <a:prstGeom prst="ellipse">
            <a:avLst/>
          </a:prstGeom>
          <a:solidFill>
            <a:srgbClr val="2E9E7B"/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57232" y="315468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Asegura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994392" y="3611880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póliza y deja traza en BD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“no sé qué necesito” a “quedé asegurado”. </a:t>
            </a:r>
            <a:pPr indent="0" marL="0">
              <a:buNone/>
            </a:pPr>
            <a:r>
              <a:rPr lang="en-US" sz="15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humano, 24/7. Funciona para afiliados y no afiliados, con o sin WhatsApp.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NORTE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Jarvis: el norte, no el entregable de este fin de semana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gana memoria con cada conversación y se adelanta a la próxima necesidad de vida del afiliado.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trabajo → educación. Con capacidad de consumo → seguro de la mascota, de desempleo, del carro, de la vejez. La compañía va al afiliado, no el afiliado a la compañía.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1E2C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“Responsabilidad compartida de patrones que mejoran tu vida.” Consentimiento primero, control del usuario. No vigilancia.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89520" y="17830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POR EL MERCADO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playbook global de IA para seguros 2026 (NTT DATA) dice que los ganadores combinan IA agéntica con: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+ trazas de auditoría + alertas proactivas y próximo mejor paso.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0" y="4343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palabra por palabra, lo que ya diseñamos.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pitch, Jarvis es la diapositiva de visión. Construimos el primer paso; enseñamos a dónde escala.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GANAMOS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pegamos a los 5 criterios del jurado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02536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0253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43400" y="190195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Cerramos la brecha 3,29% vs 9,3%. Afiliado concreto y voz real. Jarvis conecta con el problema país (2,49 M de ninis).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935224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2D6CD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3522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761488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proactivo con memoria frente al chatbot reactivo. Personalización por momento de vida. Consentimiento como diseño.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67912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1BA5B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6791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694176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Viab. técnica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43400" y="376732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determinista en Python (la IA nunca pone la cifra) + n8n + Gemini + base de datos. Artefactos que ya corren.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26864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800600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1BA5B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006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4626864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Viab. implementación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43400" y="470001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Idoneidad y consentimiento embebidos, traza inmutable. Respondemos por qué esta póliza y si es válida sin humano.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559552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733288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6B768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73328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5559552"/>
            <a:ext cx="2468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43400" y="5632704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navegable que el jurado prueba solo en 90 segundos. Lenguaje cálido. Pitch de 3 minutos con camino a Colsubsidio.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HECHO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la IA nunca pone la cifra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WhatsApp / web / voz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61488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154680" y="210312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2D6CDF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21031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85232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806440" y="182880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BA5B8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97880" y="18288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 calcula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269748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3B4EA0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2697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y redacta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0" y="23317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006840" y="2103120"/>
            <a:ext cx="2514600" cy="1097280"/>
          </a:xfrm>
          <a:prstGeom prst="roundRect">
            <a:avLst>
              <a:gd name="adj" fmla="val 7500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8280" y="2103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traza: oferta · idoneidad · consentimiento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1F5FB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94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conversa, Python decide, la base de datos deja evidencia. </a:t>
            </a:r>
            <a:pPr indent="0" marL="0">
              <a:buNone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evidencia responde la pregunta más peligrosa del jurado: ¿por qué esta póliza?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RECOMENDADO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649224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38928"/>
            <a:ext cx="64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453896" y="5138928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3896" y="5138928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Colab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74720" y="513892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5138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56632" y="5138928"/>
            <a:ext cx="1197864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513892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19088" y="5138928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513892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Vercel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30184" y="5138928"/>
            <a:ext cx="978408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5138928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73184" y="5138928"/>
            <a:ext cx="978408" cy="457200"/>
          </a:xfrm>
          <a:prstGeom prst="roundRect">
            <a:avLst>
              <a:gd name="adj" fmla="val 50000"/>
            </a:avLst>
          </a:prstGeom>
          <a:solidFill>
            <a:srgbClr val="E7EEF8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73184" y="5138928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queda para producción; en el demo simulamos la interfaz para no depender de la verificación de Meta.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COMPLETA · INFRAESTRUCTURA Y MARCO LÓGICO</a:t>
            </a:r>
            <a:endParaRPr lang="en-US" sz="1200" dirty="0"/>
          </a:p>
        </p:txBody>
      </p:sp>
      <p:pic>
        <p:nvPicPr>
          <p:cNvPr id="3" name="Image 0" descr="/sessions/friendly-affectionate-meitner/mnt/Claude cowork/OUTPUTS/Hackathon Colsubsidio - Plan Scala Labs/Scala Labs - Infraestructura y marco log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097280"/>
            <a:ext cx="7781544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hace qué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0299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/ Producto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Visión, decisión, UX del MVP, foco en el wedge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6824" y="18288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2103120"/>
            <a:ext cx="292608" cy="292608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20299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Automatización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5420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1144" y="288036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motor Python, APIs, Gemini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18288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103120"/>
            <a:ext cx="292608" cy="292608"/>
          </a:xfrm>
          <a:prstGeom prst="ellipse">
            <a:avLst/>
          </a:prstGeom>
          <a:solidFill>
            <a:srgbClr val="1BA5B8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299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/ Modelo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5420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288036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Recomendación, prima, reglas de idoneidad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251960"/>
            <a:ext cx="292608" cy="292608"/>
          </a:xfrm>
          <a:prstGeom prst="ellipse">
            <a:avLst/>
          </a:prstGeom>
          <a:solidFill>
            <a:srgbClr val="3B4EA0"/>
          </a:solidFill>
          <a:ln/>
        </p:spPr>
      </p:sp>
      <p:sp>
        <p:nvSpPr>
          <p:cNvPr id="21" name="Text 19"/>
          <p:cNvSpPr/>
          <p:nvPr/>
        </p:nvSpPr>
        <p:spPr>
          <a:xfrm>
            <a:off x="1298448" y="417880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/ UX-UI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69087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tipo WhatsApp, funnel, demo navegable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06824" y="397764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251960"/>
            <a:ext cx="292608" cy="292608"/>
          </a:xfrm>
          <a:prstGeom prst="ellipse">
            <a:avLst/>
          </a:prstGeom>
          <a:solidFill>
            <a:srgbClr val="2E9E7B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417880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/ Pitch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81144" y="469087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81144" y="502920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Modelo, guion, video, afiliados reales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73568" y="397764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4251960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8631936" y="417880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+ QA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47888" y="469087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6ª persona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47888" y="502920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Habeas Data, idoneidad, pruebas del flujo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pendiente: asignar las 4 funciones sin nombre y completar las fichas de perfil. Una persona puede llevar dos.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por día (22 – 26 jul)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10332720" cy="0"/>
          </a:xfrm>
          <a:prstGeom prst="line">
            <a:avLst/>
          </a:prstGeom>
          <a:noFill/>
          <a:ln w="25400">
            <a:solidFill>
              <a:srgbClr val="D3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1912" y="2249424"/>
            <a:ext cx="256032" cy="256032"/>
          </a:xfrm>
          <a:prstGeom prst="ellipse">
            <a:avLst/>
          </a:prstGeom>
          <a:solidFill>
            <a:srgbClr val="2D6CD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2139696" cy="246888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803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6C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 22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reto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mapeado, entorno vivo, reto votado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2249424"/>
            <a:ext cx="256032" cy="256032"/>
          </a:xfrm>
          <a:prstGeom prst="ellipse">
            <a:avLst/>
          </a:prstGeom>
          <a:solidFill>
            <a:srgbClr val="1BA5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2697480"/>
            <a:ext cx="2139696" cy="246888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28803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5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 23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81528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MVP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81528" y="393192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Recorrido, arquitectura y UX del wedge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0488" y="2249424"/>
            <a:ext cx="256032" cy="256032"/>
          </a:xfrm>
          <a:prstGeom prst="ellipse">
            <a:avLst/>
          </a:prstGeom>
          <a:solidFill>
            <a:srgbClr val="3B4E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2697480"/>
            <a:ext cx="2139696" cy="246888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48656" y="28803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4E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 24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85816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técnico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85816" y="393192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Python corriendo + n8n + BD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94776" y="2249424"/>
            <a:ext cx="256032" cy="25603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2944" y="2697480"/>
            <a:ext cx="2139696" cy="246888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52944" y="28803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 25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90104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integración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90104" y="393192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navegable de punta a punta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799064" y="2249424"/>
            <a:ext cx="256032" cy="256032"/>
          </a:xfrm>
          <a:prstGeom prst="ellipse">
            <a:avLst/>
          </a:prstGeom>
          <a:solidFill>
            <a:srgbClr val="2E9E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57232" y="2697480"/>
            <a:ext cx="2139696" cy="246888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57232" y="28803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9E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26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94392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+ pitch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994392" y="393192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límite, bitácora, video, pitch 3 min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pivote: </a:t>
            </a:r>
            <a:pPr indent="0" marL="0">
              <a:buNone/>
            </a:pPr>
            <a:r>
              <a:rPr lang="en-US" sz="13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sábado al mediodía el flujo no cierra de punta a punta, caemos al plan B de Crédito (demo más contenida).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DIFÍCILES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Objeciones, respondidas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675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109728" cy="1380744"/>
          </a:xfrm>
          <a:prstGeom prst="roundRect">
            <a:avLst>
              <a:gd name="adj" fmla="val 50000"/>
            </a:avLst>
          </a:prstGeom>
          <a:solidFill>
            <a:srgbClr val="1BA5B8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1031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¿Póliza válida sin humano?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2697480"/>
            <a:ext cx="4544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Idoneidad + consentimiento explícito + traza consultable en base de datos.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1828800"/>
            <a:ext cx="53675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2121408"/>
            <a:ext cx="109728" cy="1380744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10312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la IA alucina una cifra?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2697480"/>
            <a:ext cx="4544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determinista pone todos los números; Gemini solo conversa. La regla no se rompe.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675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270248"/>
            <a:ext cx="109728" cy="13807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425196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le roban la cuenta?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4846320"/>
            <a:ext cx="4544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cifrada en endpoints, re-exporta con un clic, segunda llave para datos sensibles.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53912" y="3977640"/>
            <a:ext cx="53675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4270248"/>
            <a:ext cx="109728" cy="138074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251960"/>
            <a:ext cx="4544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quiere un humano?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4846320"/>
            <a:ext cx="4544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a un asesor siempre disponible, con el contexto completo del hilo.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DECIDIMOS HOY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decisiones y arrancamos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Seguros como Plan A y Crédito como plan B, con la regla de pivote del sábado.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548640" cy="54864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7157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las 4 funciones pendientes con nombre y completar las fichas de perfil hoy.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1520" y="3602736"/>
            <a:ext cx="548640" cy="54864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5570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Reclamar el kit de beneficios y confirmar créditos de Gemini y Google Cloud.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31520" y="4443984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39826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7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en una frase el afiliado concreto y el “quedó hecho” del MVP antes del jueves.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31520" y="553212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E2C4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Ganamos si el domingo un desconocido queda asegurado solo, en 5 mensajes.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Fasecolda, balance del sector asegurador 2025 (penetración 3,29% del PIB; primas +8,8%).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Mapfre y Proptech LatAm Connection, 2025–2026 (536 startups insurtech; +14% y US$90M en el 1er semestre 2026; Colombia atracción 54%).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DATA, 2026 Global AI Report: A playbook for insurance (explicabilidad, trazas, proactividad).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Inclusión Financiera 2024, Banca de las Oportunidades y SFC (acceso a crédito 35,5%).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DANE, 2025 (2,49 M de ninis entre 14 y 28 años; desempleo juvenil 15,7%).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Colombia, convenio Colsubsidio. Ranking ANDI de innovación 2026 (Colsubsidio #6).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y Montecarlo de decisión de Scala Labs (Seguros 77,0 vs Crédito 72,7; P = 84,3%).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dato se inventó. Lo que no se pudo verificar quedó señalado como tal.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Labs · Hackathon Colsubsidio x 30X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Scala Labs</dc:creator>
  <cp:lastModifiedBy>Scala Labs</cp:lastModifiedBy>
  <cp:revision>1</cp:revision>
  <dcterms:created xsi:type="dcterms:W3CDTF">2026-07-23T08:04:43Z</dcterms:created>
  <dcterms:modified xsi:type="dcterms:W3CDTF">2026-07-23T08:04:43Z</dcterms:modified>
</cp:coreProperties>
</file>